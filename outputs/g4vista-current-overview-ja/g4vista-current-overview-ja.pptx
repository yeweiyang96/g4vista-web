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aa9930002408f" /><Relationship Type="http://schemas.openxmlformats.org/officeDocument/2006/relationships/extended-properties" Target="/docProps/app.xml" Id="R69a01f1bc342449e" /><Relationship Type="http://schemas.openxmlformats.org/officeDocument/2006/relationships/officeDocument" Target="/ppt/presentation.xml" Id="R1791faf859b6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e57476bd1e4bcf"/>
  </p:sldMasterIdLst>
  <p:notesMasterIdLst>
    <p:notesMasterId xmlns:r="http://schemas.openxmlformats.org/officeDocument/2006/relationships" r:id="R4a5df80093674d9c"/>
  </p:notesMasterIdLst>
  <p:sldIdLst>
    <p:sldId xmlns:r="http://schemas.openxmlformats.org/officeDocument/2006/relationships" id="256" r:id="R0401af7899d84ac0"/>
    <p:sldId xmlns:r="http://schemas.openxmlformats.org/officeDocument/2006/relationships" id="257" r:id="Re121fa4fb69a448d"/>
    <p:sldId xmlns:r="http://schemas.openxmlformats.org/officeDocument/2006/relationships" id="258" r:id="R112255ea45904060"/>
    <p:sldId xmlns:r="http://schemas.openxmlformats.org/officeDocument/2006/relationships" id="259" r:id="Rc4c977f220bb42e9"/>
    <p:sldId xmlns:r="http://schemas.openxmlformats.org/officeDocument/2006/relationships" id="260" r:id="R2f119ca5f34d4656"/>
    <p:sldId xmlns:r="http://schemas.openxmlformats.org/officeDocument/2006/relationships" id="261" r:id="Rff34deba4cc74c3c"/>
    <p:sldId xmlns:r="http://schemas.openxmlformats.org/officeDocument/2006/relationships" id="262" r:id="R6ba93374a8604b0d"/>
    <p:sldId xmlns:r="http://schemas.openxmlformats.org/officeDocument/2006/relationships" id="263" r:id="Rdb52bc5b05a94b8e"/>
    <p:sldId xmlns:r="http://schemas.openxmlformats.org/officeDocument/2006/relationships" id="264" r:id="Rff490a3198014df5"/>
    <p:sldId xmlns:r="http://schemas.openxmlformats.org/officeDocument/2006/relationships" id="265" r:id="Rc20afde1aaba48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90f63b0e34bf4" /><Relationship Type="http://schemas.openxmlformats.org/officeDocument/2006/relationships/slideMaster" Target="/ppt/slideMasters/slideMaster1.xml" Id="Rfee57476bd1e4bcf" /><Relationship Type="http://schemas.openxmlformats.org/officeDocument/2006/relationships/notesMaster" Target="/ppt/notesMasters/notesMaster1.xml" Id="R4a5df80093674d9c" /><Relationship Type="http://schemas.openxmlformats.org/officeDocument/2006/relationships/presProps" Target="/ppt/presProps.xml" Id="R59fe0f5c54e942bd" /><Relationship Type="http://schemas.openxmlformats.org/officeDocument/2006/relationships/tableStyles" Target="/ppt/tableStyles.xml" Id="R54fe498057e0463a" /><Relationship Type="http://schemas.openxmlformats.org/officeDocument/2006/relationships/slide" Target="/ppt/slides/slide1.xml" Id="R0401af7899d84ac0" /><Relationship Type="http://schemas.openxmlformats.org/officeDocument/2006/relationships/slide" Target="/ppt/slides/slide2.xml" Id="Re121fa4fb69a448d" /><Relationship Type="http://schemas.openxmlformats.org/officeDocument/2006/relationships/slide" Target="/ppt/slides/slide3.xml" Id="R112255ea45904060" /><Relationship Type="http://schemas.openxmlformats.org/officeDocument/2006/relationships/slide" Target="/ppt/slides/slide4.xml" Id="Rc4c977f220bb42e9" /><Relationship Type="http://schemas.openxmlformats.org/officeDocument/2006/relationships/slide" Target="/ppt/slides/slide5.xml" Id="R2f119ca5f34d4656" /><Relationship Type="http://schemas.openxmlformats.org/officeDocument/2006/relationships/slide" Target="/ppt/slides/slide6.xml" Id="Rff34deba4cc74c3c" /><Relationship Type="http://schemas.openxmlformats.org/officeDocument/2006/relationships/slide" Target="/ppt/slides/slide7.xml" Id="R6ba93374a8604b0d" /><Relationship Type="http://schemas.openxmlformats.org/officeDocument/2006/relationships/slide" Target="/ppt/slides/slide8.xml" Id="Rdb52bc5b05a94b8e" /><Relationship Type="http://schemas.openxmlformats.org/officeDocument/2006/relationships/slide" Target="/ppt/slides/slide9.xml" Id="Rff490a3198014df5" /><Relationship Type="http://schemas.openxmlformats.org/officeDocument/2006/relationships/slide" Target="/ppt/slides/slide10.xml" Id="Rc20afde1aaba48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a7dd45743e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7758da4894c6f" /><Relationship Type="http://schemas.openxmlformats.org/officeDocument/2006/relationships/notesMaster" Target="/ppt/notesMasters/notesMaster1.xml" Id="R04830c37af03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a483dfc6274c3d" /><Relationship Type="http://schemas.openxmlformats.org/officeDocument/2006/relationships/notesMaster" Target="/ppt/notesMasters/notesMaster1.xml" Id="Rf4ff2c80d6e446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95dc53d71547fe" /><Relationship Type="http://schemas.openxmlformats.org/officeDocument/2006/relationships/notesMaster" Target="/ppt/notesMasters/notesMaster1.xml" Id="R6e7d8db709e842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84476fa8f4c5e" /><Relationship Type="http://schemas.openxmlformats.org/officeDocument/2006/relationships/notesMaster" Target="/ppt/notesMasters/notesMaster1.xml" Id="Ra9d7796e94614e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bf9cd7e2454a83" /><Relationship Type="http://schemas.openxmlformats.org/officeDocument/2006/relationships/notesMaster" Target="/ppt/notesMasters/notesMaster1.xml" Id="Rd773d9de33084d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2617f4cd9f484a" /><Relationship Type="http://schemas.openxmlformats.org/officeDocument/2006/relationships/notesMaster" Target="/ppt/notesMasters/notesMaster1.xml" Id="R728c2159290b46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32f326c9ca4671" /><Relationship Type="http://schemas.openxmlformats.org/officeDocument/2006/relationships/notesMaster" Target="/ppt/notesMasters/notesMaster1.xml" Id="Rfdf54c74d56044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6e0b3702ac4732" /><Relationship Type="http://schemas.openxmlformats.org/officeDocument/2006/relationships/notesMaster" Target="/ppt/notesMasters/notesMaster1.xml" Id="R88029e0c7c0946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1f86aa38d424e" /><Relationship Type="http://schemas.openxmlformats.org/officeDocument/2006/relationships/notesMaster" Target="/ppt/notesMasters/notesMaster1.xml" Id="R66c7c27c59e14b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eb777df20d4523" /><Relationship Type="http://schemas.openxmlformats.org/officeDocument/2006/relationships/notesMaster" Target="/ppt/notesMasters/notesMaster1.xml" Id="Rb9f7c2f916a9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2332ca23d46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eaaa2018146a6" /><Relationship Type="http://schemas.openxmlformats.org/officeDocument/2006/relationships/slideLayout" Target="/ppt/slideLayouts/slideLayout1.xml" Id="R026d450f0f45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d450f0f45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2295f011446b0" /><Relationship Type="http://schemas.openxmlformats.org/officeDocument/2006/relationships/notesSlide" Target="/ppt/notesSlides/notesSlide1.xml" Id="Rf99e936901564d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d69b1367e42ce" /><Relationship Type="http://schemas.openxmlformats.org/officeDocument/2006/relationships/notesSlide" Target="/ppt/notesSlides/notesSlide2.xml" Id="R394ac5c9cb484c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2919308543e7" /><Relationship Type="http://schemas.openxmlformats.org/officeDocument/2006/relationships/image" Target="/ppt/media/image.jpeg" Id="R9254abff857d47f1" /><Relationship Type="http://schemas.openxmlformats.org/officeDocument/2006/relationships/notesSlide" Target="/ppt/notesSlides/notesSlide3.xml" Id="R68c6aa45b00041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052bd81dc4b03" /><Relationship Type="http://schemas.openxmlformats.org/officeDocument/2006/relationships/image" Target="/ppt/media/image2.jpeg" Id="R6f1dddd12044446f" /><Relationship Type="http://schemas.openxmlformats.org/officeDocument/2006/relationships/notesSlide" Target="/ppt/notesSlides/notesSlide4.xml" Id="R0ed0a571820745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af1777e454939" /><Relationship Type="http://schemas.openxmlformats.org/officeDocument/2006/relationships/notesSlide" Target="/ppt/notesSlides/notesSlide5.xml" Id="R6093cdebdcd542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8a50c6ef74a5f" /><Relationship Type="http://schemas.openxmlformats.org/officeDocument/2006/relationships/image" Target="/ppt/media/image3.jpeg" Id="Rccd9f16a5d4149b9" /><Relationship Type="http://schemas.openxmlformats.org/officeDocument/2006/relationships/notesSlide" Target="/ppt/notesSlides/notesSlide6.xml" Id="Rb34ddeb3862549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90075e38c40a0" /><Relationship Type="http://schemas.openxmlformats.org/officeDocument/2006/relationships/image" Target="/ppt/media/image4.jpeg" Id="R612a8c4c138f456c" /><Relationship Type="http://schemas.openxmlformats.org/officeDocument/2006/relationships/notesSlide" Target="/ppt/notesSlides/notesSlide7.xml" Id="R5f549690cdce4a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0dd67a4ef4a8b" /><Relationship Type="http://schemas.openxmlformats.org/officeDocument/2006/relationships/image" Target="/ppt/media/image5.jpeg" Id="R6e0475c5cbac437c" /><Relationship Type="http://schemas.openxmlformats.org/officeDocument/2006/relationships/notesSlide" Target="/ppt/notesSlides/notesSlide8.xml" Id="Rde5c475972af49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4437a9c8a4a52" /><Relationship Type="http://schemas.openxmlformats.org/officeDocument/2006/relationships/notesSlide" Target="/ppt/notesSlides/notesSlide9.xml" Id="Rdbe5dbaa9b7948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cf6766d0249f3" /><Relationship Type="http://schemas.openxmlformats.org/officeDocument/2006/relationships/notesSlide" Target="/ppt/notesSlides/notesSlide10.xml" Id="R8bcd55f80f914b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23951-B660-4A55-85CA-356765B6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G4Vista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12047-A259-4D4A-A27B-081E714A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09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現在のG4Vistaは、G4/i-motif探索を研究ワークフローへ接続する段階にある。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9EF94-7D6F-44F3-889D-C45DA444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42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Genome・Taxonomy・Gene・Analysis の入口を持ち、同じ predicted G-quadruplex (G4) / i-motif data を複数の研究単位で読むためのWebデータベースとして整理されている。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EC919-EB9D-4D15-9158-CF6CC9DD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DB788-BE5F-4A6E-B943-AAB9D01C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2F766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F766B"/>
                </a:solidFill>
                <a:latin typeface="Yu Gothic"/>
                <a:ea typeface="Yu Gothic"/>
                <a:cs typeface="Yu Gothic"/>
              </a:rPr>
              <a:t>Lab meeting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5E3DE-A865-4BD7-AF84-2A3A01E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9525">
            <a:solidFill>
              <a:srgbClr val="C77C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CC141-0F33-4731-86A9-4F942885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101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C77C2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C77C2E"/>
                </a:solidFill>
                <a:latin typeface="Yu Gothic"/>
                <a:ea typeface="Yu Gothic"/>
                <a:cs typeface="Yu Gothic"/>
              </a:rPr>
              <a:t>Japanese 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57B0D-7820-48A8-AF28-EE6264C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190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1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E031D-0A1E-461C-8B93-2F908E3F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G4 / i-motif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motif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E692B-0D38-4453-8B77-94C204C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13335">
            <a:solidFill>
              <a:srgbClr val="0B64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AB15B-77C7-49CE-AD13-C18234E5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954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Genome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008F3-2C88-4C28-9A23-D5EB77A0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002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assemblyを起点に分布とmotif siteを確認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B433D-0E4A-4BBA-BF5B-49E0E4F8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13335">
            <a:solidFill>
              <a:srgbClr val="2F7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946E4-4524-4C13-81D1-D66C118C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98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Taxonomy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2E796-EA01-4E60-BE11-C94BC1D5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146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分類群単位でassembliesと位置文脈を見る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42F7F-AB0A-47A5-BA50-B9935FB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DDE5"/>
          </a:solidFill>
          <a:ln xmlns:a="http://schemas.openxmlformats.org/drawingml/2006/main" w="13335">
            <a:solidFill>
              <a:srgbClr val="9B3A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61124-BD43-4829-BF54-FC4BDA86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481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2CE83-66E1-4F6F-99A8-C48B8E9A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529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featureからlinked motif windowsへ進む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1D5B8-865F-4A5E-9A42-78999B9B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13335">
            <a:solidFill>
              <a:srgbClr val="C77C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09B5A-A460-45B1-AE28-1FFDBF6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40D2A-AA28-480E-9AC7-10B1348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環境条件とG4 densityを比較する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1667E-1874-409B-91F6-8C5A5E5B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FA1E9-35D1-43E2-8F01-05C87649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0661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355B3458-4E84-4F29-8C44-E6B397C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PRODUCT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E282C-F756-45EF-8232-173CE833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5つの入口が、同じG4/i-motifデータを異なる研究単位へ展開する。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957D3-D5C8-49B5-9814-374008F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46710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211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5C929-8A64-4BC2-9608-0A89D0BF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Predicted motif data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EABF4-CE08-4159-BACD-8DF3438B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D5DE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EDB"/>
                </a:solidFill>
                <a:latin typeface="Aptos"/>
                <a:ea typeface="Aptos"/>
                <a:cs typeface="Aptos"/>
              </a:rPr>
              <a:t>G4 / i-motif sites, genomic coordinates, gene context, assembly and taxonomy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6D9E3-72A0-4214-920A-8494E8FF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628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13335">
            <a:solidFill>
              <a:srgbClr val="0B64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E1843-4DE2-48D0-9FD5-DD96C764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2E0B9-7BA4-4CE0-BBEA-B5FC68F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検索とdatabase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D26F2-934D-4000-A4D9-C7D7CFCF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0325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D997A-147E-4C86-90BA-4FE55D59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628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13335">
            <a:solidFill>
              <a:srgbClr val="0B64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F9F4-300B-4A98-ABDC-4F1CE6BC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Genome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704AB-52D5-4146-8713-34DA624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assembly search → detail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557C5-3E60-4559-AD36-A74D52C2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14825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E3FAC-8387-4F9E-9F8B-D076BA40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628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13335">
            <a:solidFill>
              <a:srgbClr val="2F76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A2CB9-7E9A-43AC-A17F-12DCC0F9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28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Taxonomy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8B3FC-64E2-46F4-AD14-9DC2D928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taxon search → lineage / assemblies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4DC3B-6B33-4CCF-9FA1-9A5E6961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14312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75483-50EE-4C18-A285-4199FE3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52800"/>
            <a:ext cx="2628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DDE5"/>
          </a:solidFill>
          <a:ln xmlns:a="http://schemas.openxmlformats.org/drawingml/2006/main" w="13335">
            <a:solidFill>
              <a:srgbClr val="9B3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9C64C-4972-42A4-9E8B-8ED4206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05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CEBA3-5212-4AB5-91E1-63A29FC3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10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gene search → linked motif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CD4E5-619E-44A7-B81B-164C1E6F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81952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4F763-9042-4EFC-B177-CD404FB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2628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13335">
            <a:solidFill>
              <a:srgbClr val="C77C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E628B-1256-4FA5-8AED-C455D4E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33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CC73D-41F7-4E92-B110-C07F599F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38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microbial condition → correlation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24B3D-927B-452A-97FD-A051918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482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F24AA5-B78A-48EE-AC4C-232831A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81550"/>
            <a:ext cx="2628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EAEE"/>
          </a:solidFill>
          <a:ln xmlns:a="http://schemas.openxmlformats.org/drawingml/2006/main" w="13335">
            <a:solidFill>
              <a:srgbClr val="5861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18CF8E-276C-46AD-820C-25C4A72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5861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616B"/>
                </a:solidFill>
                <a:latin typeface="Aptos"/>
                <a:ea typeface="Aptos"/>
                <a:cs typeface="Aptos"/>
              </a:rPr>
              <a:t>Help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FF77A-EF03-435F-AE80-6E77C041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workflow tabs + guided prompts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EC2E4-9EC2-420E-9414-1BED2990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482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1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90DD7-22F7-4D6F-9453-BDCFDA10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64C0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B64C0"/>
                </a:solidFill>
                <a:latin typeface="Yu Gothic"/>
                <a:ea typeface="Yu Gothic"/>
                <a:cs typeface="Yu Gothic"/>
              </a:rPr>
              <a:t>検索入口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9AC2A-A8C5-4088-9EDB-619B40A1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766B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F766B"/>
                </a:solidFill>
                <a:latin typeface="Yu Gothic"/>
                <a:ea typeface="Yu Gothic"/>
                <a:cs typeface="Yu Gothic"/>
              </a:rPr>
              <a:t>解釈入口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65A6F-076D-4235-AAC7-691F2CFC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A8FA2-13CA-4A25-A48B-0595FF4C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5785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DE867758-215C-4779-9529-93C4DC9E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GENOME ENTRY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E793B-1282-450F-A56D-C0E009F1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Genome searchは、解析対象のassemblyを決める入口である。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B4747-B019-4DF6-95A6-D64285E2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3848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検索条件は assembly accession、assembly name、scientific name。検索後は推奨assembliesや代表例から genome detail workspace に移動する。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9BCE1-02AB-419B-B000-6E00CA4A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429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4871A-9425-4E6E-8749-B2D3B6BB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ECA82-9978-44FD-B92E-75BC0B88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assembly accession / organism / scientific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93C08-ECF1-4A40-A52A-5FE78D95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F8185-6D3C-49D7-9C94-79531F42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E620E-B65F-4D08-AF8F-15925A37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sequence records, predicted G4 sites, predicted i-motif sites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36FCB-4044-42DF-BBEF-275A17BD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9525">
            <a:solidFill>
              <a:srgbClr val="C77C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05713-D065-4798-8108-31FAD952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3367A-43A1-4F84-8FE8-D9845D2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3086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Open genome から detail page へ進む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D063A-2124-4624-9733-2F90993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85900"/>
            <a:ext cx="6438900" cy="4343400"/>
          </a:xfrm>
          <a:prstGeom xmlns:a="http://schemas.openxmlformats.org/drawingml/2006/main" prst="roundRect">
            <a:avLst>
              <a:gd name="adj" fmla="val 3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4abff857d47f1"/>
          <a:stretch xmlns:a="http://schemas.openxmlformats.org/drawingml/2006/main"/>
        </p:blipFill>
        <p:spPr>
          <a:xfrm xmlns:a="http://schemas.openxmlformats.org/drawingml/2006/main">
            <a:off x="4953000" y="1889522"/>
            <a:ext cx="6286500" cy="3536156"/>
          </a:xfrm>
          <a:prstGeom xmlns:a="http://schemas.openxmlformats.org/drawingml/2006/main" prst="roundRect">
            <a:avLst>
              <a:gd name="adj" fmla="val 227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63A49-6311-4836-81ED-8999FE7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6BD55-0406-4B1B-A85D-D24DE1D4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8318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C051ED0-D3B7-42B0-9483-BFB5AB1E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GENOME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6359E-8EA1-4A48-AEF9-5A9434C5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Genome detailは、G4/i-motif解析の中核ページである。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2BE60-4A09-4925-9697-DC950B4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743700" cy="4343400"/>
          </a:xfrm>
          <a:prstGeom xmlns:a="http://schemas.openxmlformats.org/drawingml/2006/main" prst="roundRect">
            <a:avLst>
              <a:gd name="adj" fmla="val 3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dddd12044446f"/>
          <a:stretch xmlns:a="http://schemas.openxmlformats.org/drawingml/2006/main"/>
        </p:blipFill>
        <p:spPr>
          <a:xfrm xmlns:a="http://schemas.openxmlformats.org/drawingml/2006/main">
            <a:off x="685800" y="1841897"/>
            <a:ext cx="6591300" cy="3707606"/>
          </a:xfrm>
          <a:prstGeom xmlns:a="http://schemas.openxmlformats.org/drawingml/2006/main" prst="roundRect">
            <a:avLst>
              <a:gd name="adj" fmla="val 227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79BCA-09B7-4EFB-8791-3F98DB04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320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B5B70-8C17-483C-9C7F-C794C571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1. ASSEMBLY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C59EB-8D8A-48A3-92F4-E93960B5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species / accession / Taxon ID / genome lengthを確認。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7A992-8998-42FA-B29D-E91B13D4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320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C00C4-A8EC-4718-810A-45BF2A53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2. G4 / i-motif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864B2-AC06-4A8E-9A81-28BFBA99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motif typeとflank条件を切り替え、全体分布を確認。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63386-BA27-4A96-8204-BB61B5B4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0DDE5"/>
          </a:solidFill>
          <a:ln xmlns:a="http://schemas.openxmlformats.org/drawingml/2006/main" w="9525">
            <a:solidFill>
              <a:srgbClr val="9B3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13F42-AE81-4192-8325-A8381317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3. GENE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022A1-6B1F-4396-BD87-1E404A0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intragenic・upstream・downstreamを中心に位置関係を解釈。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90A6E-99D2-4333-B9E0-D93FBB4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769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表示の主役は「どのgenomeで、どのmotifが、どのgene contextにあるか」。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C25FB-90B1-4F08-AF89-FA87624B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98C5C-54CB-4A8E-B661-B757057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0876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31BCE46-33C2-4E6B-A061-8770345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MOTIF EXPLORER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73347-8F14-46CA-A946-5179DF13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Motif Explorerは、候補motifを表・領域図・genome browserで検証する。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2D36A-E7B4-432F-B688-74DF8FD4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668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D640F-DFA4-4515-BF1B-395FFA1C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Filter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C68CA-7D84-4C10-A7E0-28046964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4B0D7-9729-4D05-BD0C-1E5F57A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050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rPr>
              <a:t>Motif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D3A11-3B98-458C-8572-F3B61729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383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659CF-CA09-41B9-A086-AE141CF2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050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rPr>
              <a:t>Sequence / 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60DE3-A655-4DAF-9535-D5C4AB7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383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C2CB6-7E6E-4B8C-8650-F3794F8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050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rPr>
              <a:t>Gene relation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6DAF3-C612-4955-9C87-D336938B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AE181-D6C7-4108-83AC-AAD609F6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050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rPr>
              <a:t>Gene keyword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07AF9-A9E2-476F-8632-C3334745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17A4D-F098-4117-906B-EBB5A5B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rPr>
              <a:t>G-tetrads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2F6F6-7123-4B6D-BE9B-01FF56C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160EE-59B8-4F92-96D3-7B08E057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050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B64C0"/>
                </a:solidFill>
                <a:latin typeface="Yu Gothic"/>
                <a:ea typeface="Yu Gothic"/>
                <a:cs typeface="Yu Gothic"/>
              </a:rPr>
              <a:t>Score range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1FDF4-BA74-4C36-9DD2-EF0C5421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143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11430">
            <a:solidFill>
              <a:srgbClr val="0B64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2CC3A-CD43-4873-8315-5131CA8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7182A-0BF1-4B1F-B188-66FB507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各motif siteの座標、sequence、gene relationを一覧で確認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8E99D-E84B-499E-ADA0-35EB6A07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6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462D5-9576-4419-8565-D60CD17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3143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11430">
            <a:solidFill>
              <a:srgbClr val="2F76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CD879-5F68-40F5-BCE7-5653351E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RANGE CHART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B6D5F-1063-4EBA-9E4C-783B3B6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選択領域の分布を図として確認し、密度や偏りを見る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CC13C-8A89-4246-B125-1E2FA1E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67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48D97-6695-4D9E-BF97-EA141728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3143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11430">
            <a:solidFill>
              <a:srgbClr val="C77C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55B7D-0109-42A2-B88D-8311D69D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GENOME BROWSER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D302A-6A22-4C52-AE85-C591AC5F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JBrowseでgenome contextへ移動し、周辺annotationと並べて見る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87D67-D472-4C58-91DC-2B0C3B4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研究上の読み方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7D5FA-747A-4AEC-A3E9-7DD352FF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29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最初にfilterで候補集合を決め、tableで個別候補を確認し、chart/browserでゲノム文脈を読む。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E5C58C-067D-4AC1-8E9C-AA4C78E6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AD144F-1F1C-4294-AAA2-8EF679E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3532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843961B8-8AC5-4BA2-BAB1-A97FBF78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TAXONOMY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888F0-BC01-449B-8DFB-C094A08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Taxonomy viewは、分類群単位の比較入口である。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EE58B-0CB6-434C-9E9A-71257732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057900" cy="4248150"/>
          </a:xfrm>
          <a:prstGeom xmlns:a="http://schemas.openxmlformats.org/drawingml/2006/main" prst="roundRect">
            <a:avLst>
              <a:gd name="adj" fmla="val 3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9f16a5d4149b9"/>
          <a:stretch xmlns:a="http://schemas.openxmlformats.org/drawingml/2006/main"/>
        </p:blipFill>
        <p:spPr>
          <a:xfrm xmlns:a="http://schemas.openxmlformats.org/drawingml/2006/main">
            <a:off x="685800" y="1949053"/>
            <a:ext cx="5905500" cy="3321844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3972B-7590-40AD-B438-D842A74D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Taxon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D9535-3EA3-4B72-920A-A61E146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検索単位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4BD22-A5AF-44E8-91CE-195D2F3F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scientific name、common name、NCBI Taxon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400EB-B3CF-4A26-A1A5-811BCF78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Lineage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CF58E-11AD-4A9B-97BE-AFF590FA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52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分類階層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63EE9-17C3-4EBB-9CB9-DAA6D90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taxon detailでは親子関係と関連assembliesを確認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8FB71-B8B4-4D49-8ECE-0EEE0B17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EBC7E-1139-4703-9E42-8377E8A6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14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位置文脈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0B68C-02B3-46BF-8ABF-595C46D5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taxon-level G4/i-motif position contextをon demandで読み込む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DC7E1-1871-458F-AB19-6DFD3818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6D243-41E3-4D5B-A718-ECD58B0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4672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B000F374-EED0-4302-B58B-B9349D08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GENE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27BFC-E56A-4C9F-8430-3B9EAE44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Gene viewは、feature検索からlinked motif windowsへ進む導線を持つ。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0F136-FCE6-4090-9486-0F6B32AC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gene / feature keyword と taxon scope を組み合わせ、検索範囲を狭めてから、gene detailで座標とlinked motif windowsを読む。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E6752-3643-4749-861C-8A98E591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3733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12BD8-4012-456B-8BD4-1EA54A2B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A159F-2190-483F-97DE-55A69F91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194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13BD0-E3F0-47AA-BE06-F7C93148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feature ID / gene symbol / locus 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6F30D-9C52-4788-A095-AD021E65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733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46D29-DF33-4642-99C5-FD5B3F07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2E057-3A7F-4017-8DED-77905787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E97DD-C6F5-42EA-9B98-C4D754A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taxon scopeで検索負荷を下げる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CDF0A-A7C5-4CC7-A1D9-BA2693ED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3733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9525">
            <a:solidFill>
              <a:srgbClr val="C77C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D704C-6BF6-45D9-AC8F-3D55834B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2228F-EB95-4524-826E-2ED59152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Detail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9EA78-9DD3-4D66-8253-80E61DED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coordinates、strand、biotypeを確認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84AC5-9486-4E28-A0CE-77334308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3733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DDE5"/>
          </a:solidFill>
          <a:ln xmlns:a="http://schemas.openxmlformats.org/drawingml/2006/main" w="9525">
            <a:solidFill>
              <a:srgbClr val="9B3A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A5AB4-F701-4C65-91A5-C9F752A1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71218-0DAA-4299-B48B-CD9D4C66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3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Motifs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126A0-0598-44B9-9457-260FEDD1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linked G4 / i-motif windowsを確認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7FA3D-E3DD-4AEC-96C7-B680EBB8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24000"/>
            <a:ext cx="6057900" cy="4248150"/>
          </a:xfrm>
          <a:prstGeom xmlns:a="http://schemas.openxmlformats.org/drawingml/2006/main" prst="roundRect">
            <a:avLst>
              <a:gd name="adj" fmla="val 3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a8c4c138f456c"/>
          <a:stretch xmlns:a="http://schemas.openxmlformats.org/drawingml/2006/main"/>
        </p:blipFill>
        <p:spPr>
          <a:xfrm xmlns:a="http://schemas.openxmlformats.org/drawingml/2006/main">
            <a:off x="5257800" y="1987153"/>
            <a:ext cx="5905500" cy="3321844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6C0D3-8F93-440D-9F3A-15EAF954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BFD5B-47DD-4972-A51A-D9944963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2998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BD536F4D-25CD-49DD-BB9E-2B20CD1E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RESEARCH WORKBENCH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42C68-58F4-43C0-B9AF-C8419B0A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Microbial researchは、検索DBを仮説探索へ広げる。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186E0-3AFC-4A27-ABE4-5D7D7BA6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85900"/>
            <a:ext cx="6724650" cy="4248150"/>
          </a:xfrm>
          <a:prstGeom xmlns:a="http://schemas.openxmlformats.org/drawingml/2006/main" prst="roundRect">
            <a:avLst>
              <a:gd name="adj" fmla="val 3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475c5cbac437c"/>
          <a:stretch xmlns:a="http://schemas.openxmlformats.org/drawingml/2006/main"/>
        </p:blipFill>
        <p:spPr>
          <a:xfrm xmlns:a="http://schemas.openxmlformats.org/drawingml/2006/main">
            <a:off x="4648200" y="1761530"/>
            <a:ext cx="6572250" cy="3696891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3DBA8-7C52-467A-B1F1-67F34284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9525">
            <a:solidFill>
              <a:srgbClr val="C77C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61A80-0549-4493-835D-CCA0A2F5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0CE97-30DB-46CF-9041-899A050B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temperature / pH、growth / optimum、taxonomy rank、strain setを指定する。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1D57F-20BC-4667-A3EA-5B45F6EA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F77E-8CF5-4D05-821F-CE25D55B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E1899-3E2F-4827-84EE-675CFB3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Spearman correlation と OLS regression lineで環境条件とG4 densityの関係を見る。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83D97-D625-4A4B-9408-6014479E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333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7503A-27BB-4E29-A3B6-6B99A71A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65215-B52D-4E28-9D08-A271F421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scatter plot と strain tableで、候補taxon groupやstrainを確認する。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8B860-81F0-444C-83B6-6C8A2953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FD126-B79B-4450-9213-1F600A9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3167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D4046896-BC82-4842-96FD-9044BD38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HELP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638E4-0D39-4757-8FD0-04F0978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Help Centerが、機能追加後の利用負荷を下げる。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1CFCB-CD3B-469F-85F6-F5B54EF7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B676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760"/>
                </a:solidFill>
                <a:latin typeface="Yu Gothic"/>
                <a:ea typeface="Yu Gothic"/>
                <a:cs typeface="Yu Gothic"/>
              </a:rPr>
              <a:t>現在のHelpは単なる説明ページではなく、各workflowに対応した入口と、機能ページ上のguide promptを組み合わせている。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8DCDC-2463-4F78-8571-25423F5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6210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6C102-278C-40B3-B7F1-B096B223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049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Taxonomy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1E902-B600-4E84-9CD4-3200FD89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taxon検索とlineageの読み方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C6FDD-B141-48F2-8056-462004DE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6210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3B1E7-F32A-4E86-9548-924D0B5B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049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Genome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ACF60-8028-4A68-B7A7-7F1601E8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assembly検索とrecommended assemblies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EF3A6-4A4E-4127-A05B-72CD5C93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DDE5"/>
          </a:solidFill>
          <a:ln xmlns:a="http://schemas.openxmlformats.org/drawingml/2006/main" w="9525">
            <a:solidFill>
              <a:srgbClr val="9B3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F7483-312A-4243-B450-1B340A65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432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Genome detail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AB768-AA75-4736-AEBC-E9DB2B65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overview、statistics、explorer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225E9-2CA0-4A7D-9F79-BC4A4F97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6D2"/>
          </a:solidFill>
          <a:ln xmlns:a="http://schemas.openxmlformats.org/drawingml/2006/main" w="9525">
            <a:solidFill>
              <a:srgbClr val="C77C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20BD7-3027-4BAF-AD84-9374B669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432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2E9F8-2BC1-486D-8172-23F3920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feature検索とlinked motif windows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12432-E218-48A7-B922-CD093353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E8A01-73F7-4367-9DB1-1A1F6CFD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814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Microbial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A5DF8-5585-4235-93CB-DE58B872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76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condition setupと結果の読み方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A24BE-002F-4F53-BDD2-0B2600A6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209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0B64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31B5B-A708-4C58-B7CD-CF7B906C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814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Server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92D17-8132-4777-BC3E-95548D5B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76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同じ/api/v1 pathを直接使う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E5E7C-6D8F-4B1C-92E2-1BDF1E7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6672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E4CF6-1D88-4B26-9CEF-870FA452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Route-aware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DB06C-BF64-45F4-B61C-794E2588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各機能ページで必要なguideだけを表示するため、ユーザーは現在の画面に対応した使い方をすぐ確認できる。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3DED5-BD82-4977-B752-72092589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6B6A6-F294-4E7A-AF67-8CCB58DB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4300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22272857-408D-4F43-AFB1-2D5F09F1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70652-9C70-4F13-B7C1-DF1BE116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次の議論は、データ・解釈・研究ユースケースの優先順位に集中できる。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107A0-53BF-4BE5-B41F-E8B2718D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572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089C9-5089-42E1-BCA3-82690BAA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Multi-scale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54A6B-8CEC-4D5F-80A4-6E5BD48B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genome、taxon、gene、environment analysisを横断できる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D0C95-093F-4563-8DC6-F79424F0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572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3B852-BA73-4355-9987-40557066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Context-first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F1A4B-D5CD-44C3-9B0C-B537F55F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motif countだけでなく、gene contextとbrowserで確認できる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A854E-C635-45F5-9F7F-F9123DC2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4572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EBE7"/>
          </a:solidFill>
          <a:ln xmlns:a="http://schemas.openxmlformats.org/drawingml/2006/main" w="9525">
            <a:solidFill>
              <a:srgbClr val="2F76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5DE0E-F2EA-46AB-92F9-13A37A74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Research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A40FF-079F-4391-8E00-2DB9885E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microbial環境条件との関連解析に拡張している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1DACD-1A6A-4588-9A78-38EA5F2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38300"/>
            <a:ext cx="4400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FED15-D908-40EE-8F70-75E7E795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62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0B64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4C0"/>
                </a:solidFill>
                <a:latin typeface="Aptos"/>
                <a:ea typeface="Aptos"/>
                <a:cs typeface="Aptos"/>
              </a:rPr>
              <a:t>Prediction criteria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41CE6-A45F-4D53-8C9A-91256647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002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G4/i-motif prediction条件とscoreの説明をどこまでUIに出すか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88243-36E5-4915-85DE-67E7C1B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4400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25D6B-8217-4CBF-A949-53B5384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765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2F76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66B"/>
                </a:solidFill>
                <a:latin typeface="Aptos"/>
                <a:ea typeface="Aptos"/>
                <a:cs typeface="Aptos"/>
              </a:rPr>
              <a:t>Data 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F5382-F38F-4749-837D-EBE5898A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coverage、更新日、source lineageをどう見せるか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F7C8D-B0A9-4D3E-88E0-FEFEDFF5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4400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6C9CA-AC30-4BC7-9D39-6D40510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909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3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3A5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C227E-5CDA-4B5B-AA3B-E8A91612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gene context statisticsを研究者向けにどう説明するか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53523-12B9-47C1-AF56-23097D5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400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F403B-F376-4A4F-9B3C-AC4C2B8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053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C77C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7C2E"/>
                </a:solidFill>
                <a:latin typeface="Aptos"/>
                <a:ea typeface="Aptos"/>
                <a:cs typeface="Aptos"/>
              </a:rPr>
              <a:t>Use case priority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6C876-A8A1-4955-BD11-B6930B5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次に深掘りする研究workflowをどれにするか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E5D46-6971-4321-89E2-6048EA02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2F766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F766B"/>
                </a:solidFill>
                <a:latin typeface="Yu Gothic"/>
                <a:ea typeface="Yu Gothic"/>
                <a:cs typeface="Yu Gothic"/>
              </a:rPr>
              <a:t>現在の強み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29550-0C2F-4955-A126-5D235E2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5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211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211F"/>
                </a:solidFill>
                <a:latin typeface="Yu Gothic"/>
                <a:ea typeface="Yu Gothic"/>
                <a:cs typeface="Yu Gothic"/>
              </a:rPr>
              <a:t>組会で確認したい論点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DFE3E-7216-493E-AB07-E8BF185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G4Vista-Web local repository / 2026-06-15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F0CD6-E6E1-4C10-B13C-5E39F705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9397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2026-06-15T01:55:54.5660000Z</dcterms:created>
  <dcterms:modified xsi:type="dcterms:W3CDTF">2026-06-15T01:55:54.5660000Z</dcterms:modified>
</coreProperties>
</file>